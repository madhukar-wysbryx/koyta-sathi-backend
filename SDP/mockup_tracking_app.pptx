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A7F2-C9C9-6C24-91E3-EB274746E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E7190-604A-870A-5EF1-6B4B0F98B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D0DDC-096E-C3EC-F5B3-7DDD0BC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64201-401F-7751-362E-2FAAA393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0AC33-8EDC-8EAC-3225-F4971FB5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2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7704-F910-CDA8-D8BD-B76583D1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52E1-C019-A242-C7B9-9DC993BCA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D0EF2-CCEA-1860-B912-A0A21A1C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ECBDE-3555-F393-3745-D8129B6A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5C050-EB14-ADF8-0DB4-20526092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5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137C-B30C-EE8D-5F46-466F8A139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A0500-1931-BC66-059A-454ACCF34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8401C-BB15-5874-D417-40E1A36C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81998-6171-E728-0B65-6C3A2469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B8875-80EC-7E7C-2796-1E7268CD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9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B21B-AA63-3922-08F2-9D1D6605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67D34-8B87-539B-DB77-C6E38FE41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069BC-13C6-27B0-BE02-644D9F9CD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A4774-2EA3-E87F-887C-C96E517B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07CB8-4F94-55C7-3485-8A9A0FA0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CC316-2E60-85BB-CE49-C09F6DBC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1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BE20-0755-B9FD-931B-5C598C038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C29AC-32B7-FB07-841F-6F5393F69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367A6-89CA-97E5-3AA6-9D7784362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7C61E4-DB4C-93E0-8CAF-8F691016E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B69E1-7BD5-8FBA-5B10-299CC947C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6D925-7E6D-6CA6-CC96-434ED599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A6B0AC-B248-E8DC-342D-5038D24F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36823-430C-8981-37F9-D28FC8BF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3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D040E-C650-B188-4C70-A21850150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9019A-803B-380C-F6B3-4BA902E1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CCF0C-71C7-E9D9-EECB-11A62A54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5E892-654D-2A19-0AF9-45A2CA50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2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6A13C-B192-1F67-A586-CD786FFA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E2F8E-129A-C7C3-D61B-70F9EB2D3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2C971-CC03-F26D-A97E-65CB7162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0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68F6-2EF8-DA10-1A1A-0E2E8F2CC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EBFE3-653D-73F9-F767-CDE7B9E51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F251E-179F-45CA-66F8-5D21D6024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9B11E-6412-C6F9-0FB3-0C4AD0BC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D9FE-B0C4-4FFF-F6CA-3A29B37C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60593-B2F3-19EE-9BB1-4A2E1123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9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D1A4-0EB0-1717-E36B-4E155444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F2045-7167-2CC7-C474-75F672B67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97604-5214-57CA-CE92-888AF1E0F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F3301-27DC-2BDF-3DA6-CC758F92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32977-27FF-57F0-D374-01B63FC7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9DBD-D870-F6C6-E01C-CFF41190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3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5F33-A2D4-D934-53B3-9ECC753D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D48CB-D5FC-5529-9651-492E13ADC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8E62C-B45E-43B3-E7D2-ECE55955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62339-9F6D-2559-4BD0-1F896BEF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0DBF8-0F71-2892-8DA8-77F765CB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18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0343C6-7EC7-3564-F219-83464A51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94A30-1BE7-45BF-72AA-44BABD27F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405DD-D2E0-7F6C-19DE-701A3ADA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D6BE3-88A0-121E-45F3-89AE8870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2B88A-2CCD-79B6-6D56-3BAD6A2A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0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8BF80-4C1F-4D27-88ED-ABD66730B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62C9F-745F-6619-5662-ABB9984A6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FA07D-2C36-DA23-D2B8-8275EE7BD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2C4B8-5D4A-4451-89BB-B78CBC8063E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03C97-2671-50CE-BB27-0BD2D2D64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93155-5AC4-961D-3AED-99DA64EA9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A1D65-0FDC-4744-9CDF-1C11D078C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9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62BE-59CF-8733-52CC-D120B94D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screen</a:t>
            </a:r>
          </a:p>
        </p:txBody>
      </p:sp>
      <p:pic>
        <p:nvPicPr>
          <p:cNvPr id="4" name="Picture 3" descr="MIGRATION BUDDY&#10;&#10;AI-generated content may be incorrect.">
            <a:extLst>
              <a:ext uri="{FF2B5EF4-FFF2-40B4-BE49-F238E27FC236}">
                <a16:creationId xmlns:a16="http://schemas.microsoft.com/office/drawing/2014/main" id="{A0667908-2F9A-C686-AC11-D0780B010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8374"/>
            <a:ext cx="3726211" cy="642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49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0DF3D-2671-DCC5-1C12-98309AF8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A09C-B718-77AF-FD06-9FAD4FF3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Onboarding screen</a:t>
            </a:r>
          </a:p>
        </p:txBody>
      </p:sp>
      <p:pic>
        <p:nvPicPr>
          <p:cNvPr id="5" name="Picture 4" descr="Next&#10;&#10;AI-generated content may be incorrect.">
            <a:extLst>
              <a:ext uri="{FF2B5EF4-FFF2-40B4-BE49-F238E27FC236}">
                <a16:creationId xmlns:a16="http://schemas.microsoft.com/office/drawing/2014/main" id="{DEEF5EAE-50FB-2F3F-E71D-34575F57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713" y="240891"/>
            <a:ext cx="3851345" cy="637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19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8884B-9A49-AC52-CD71-65C9337D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9A69C-02DD-52BE-17A1-1C5F80220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Onboarding screen</a:t>
            </a:r>
          </a:p>
        </p:txBody>
      </p:sp>
      <p:pic>
        <p:nvPicPr>
          <p:cNvPr id="4" name="Picture 3" descr="The image displays a form for recording migration details, including options for the type of Kyoto journey, advance payments, and outstanding amounts from previous years.&#10;&#10;AI-generated content may be incorrect.">
            <a:extLst>
              <a:ext uri="{FF2B5EF4-FFF2-40B4-BE49-F238E27FC236}">
                <a16:creationId xmlns:a16="http://schemas.microsoft.com/office/drawing/2014/main" id="{F9339077-BAEE-DF75-610D-78CBF2B7E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530" y="365125"/>
            <a:ext cx="3697583" cy="607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0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3A99-2372-1EA2-4156-6B36A5D4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346E-77EE-EB7B-1193-B068C344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Toli details screen</a:t>
            </a:r>
          </a:p>
        </p:txBody>
      </p:sp>
      <p:pic>
        <p:nvPicPr>
          <p:cNvPr id="5" name="Picture 4" descr="The image displays a user interface for a crew management system, showing options for full and half KOYTAS (groups) and helpers, with input fields for male and female helpers.&#10;&#10;AI-generated content may be incorrect.">
            <a:extLst>
              <a:ext uri="{FF2B5EF4-FFF2-40B4-BE49-F238E27FC236}">
                <a16:creationId xmlns:a16="http://schemas.microsoft.com/office/drawing/2014/main" id="{EC5ED77C-DEF5-1514-2024-7BE3AC4B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33" y="365125"/>
            <a:ext cx="3701210" cy="631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1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EB447-0D82-4BFE-B344-3AC994F7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EC76-9509-89B7-B454-0788BC04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Toli details screen</a:t>
            </a:r>
          </a:p>
        </p:txBody>
      </p:sp>
      <p:pic>
        <p:nvPicPr>
          <p:cNvPr id="5" name="Picture 4" descr="The image displays a user interface for a crew management system, showing options for full and half KOYTAS (groups) and helpers, with input fields for male and female helpers.&#10;&#10;AI-generated content may be incorrect.">
            <a:extLst>
              <a:ext uri="{FF2B5EF4-FFF2-40B4-BE49-F238E27FC236}">
                <a16:creationId xmlns:a16="http://schemas.microsoft.com/office/drawing/2014/main" id="{A192D517-27B9-4FF3-72C1-EA7318371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33" y="365125"/>
            <a:ext cx="3701210" cy="631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5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427B6-5456-5D85-B13E-8126C57F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B820-4713-292F-EB19-46174B91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details screen</a:t>
            </a:r>
          </a:p>
        </p:txBody>
      </p:sp>
      <p:pic>
        <p:nvPicPr>
          <p:cNvPr id="4" name="Picture 3" descr="Back&#10;&#10;AI-generated content may be incorrect.">
            <a:extLst>
              <a:ext uri="{FF2B5EF4-FFF2-40B4-BE49-F238E27FC236}">
                <a16:creationId xmlns:a16="http://schemas.microsoft.com/office/drawing/2014/main" id="{D2A54543-96C5-DD41-C6C6-6D5A6A89A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888" y="204964"/>
            <a:ext cx="3633626" cy="628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34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1788-3CBD-0D5D-F919-21A47162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819A-EE35-996C-37D2-5ED8B660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screen</a:t>
            </a:r>
          </a:p>
        </p:txBody>
      </p:sp>
      <p:pic>
        <p:nvPicPr>
          <p:cNvPr id="5" name="Picture 4" descr="The image displays a user interface with a message prompting to save initial details and proceed to track daily work on the Ledger app.&#10;&#10;AI-generated content may be incorrect.">
            <a:extLst>
              <a:ext uri="{FF2B5EF4-FFF2-40B4-BE49-F238E27FC236}">
                <a16:creationId xmlns:a16="http://schemas.microsoft.com/office/drawing/2014/main" id="{366EF903-4E11-84C7-E80F-D89061C28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968" y="252056"/>
            <a:ext cx="3582608" cy="635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54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1849-A676-AE2D-E4E0-45E2C710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3E5B-8F8A-4A38-F4E9-FA980CE5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Tracker dashboard</a:t>
            </a:r>
          </a:p>
        </p:txBody>
      </p:sp>
      <p:pic>
        <p:nvPicPr>
          <p:cNvPr id="4" name="Picture 3" descr="The image displays a financial tracker for a Konya Sathi, detailing a total debt of ￢ﾂﾹ70,000, with ￢ﾂﾹ20,000 already paid off, zero wages earned, no repayment progress, and no recorded working days.&#10;&#10;AI-generated content may be incorrect.">
            <a:extLst>
              <a:ext uri="{FF2B5EF4-FFF2-40B4-BE49-F238E27FC236}">
                <a16:creationId xmlns:a16="http://schemas.microsoft.com/office/drawing/2014/main" id="{8A3ECBC3-1407-0B40-58BA-55952E2D3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848" y="227661"/>
            <a:ext cx="3566952" cy="640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7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D3A0-9CB5-D34E-D6CD-397A540C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3E30-3EDC-5748-99B8-618B0584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daily update by clicking “+” on dashboard</a:t>
            </a:r>
          </a:p>
        </p:txBody>
      </p:sp>
      <p:pic>
        <p:nvPicPr>
          <p:cNvPr id="5" name="Picture 4" descr="The image displays a daily tracking interface with selected date, factory location, village, status, tasks, and time entries.&#10;&#10;AI-generated content may be incorrect.">
            <a:extLst>
              <a:ext uri="{FF2B5EF4-FFF2-40B4-BE49-F238E27FC236}">
                <a16:creationId xmlns:a16="http://schemas.microsoft.com/office/drawing/2014/main" id="{70A43B82-5F64-688A-4336-C27B3A18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268824"/>
            <a:ext cx="3300984" cy="5347438"/>
          </a:xfrm>
          <a:prstGeom prst="rect">
            <a:avLst/>
          </a:prstGeom>
        </p:spPr>
      </p:pic>
      <p:pic>
        <p:nvPicPr>
          <p:cNvPr id="7" name="Picture 6" descr="The image displays a digital interface with a schedule, showing tasks such as harvesting, vehicle status, and a daily entry saved.&#10;&#10;AI-generated content may be incorrect.">
            <a:extLst>
              <a:ext uri="{FF2B5EF4-FFF2-40B4-BE49-F238E27FC236}">
                <a16:creationId xmlns:a16="http://schemas.microsoft.com/office/drawing/2014/main" id="{69ECF245-1B21-F71D-41B8-4EE6C3758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68824"/>
            <a:ext cx="3120458" cy="522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61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6907-E337-BEA4-35E4-5C357725A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6FC5-C466-7B07-4E3A-D8BBF3D4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updated “automatically”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547E1-BBE9-3CCD-35E6-3720E1A3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17" y="1442522"/>
            <a:ext cx="3032064" cy="5415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60A764-970B-FAAD-835C-C2F647E12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10" y="1306036"/>
            <a:ext cx="3478602" cy="56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9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6192-59B2-911C-8309-4D8A3E46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005D-F12F-CDAE-4DF9-49CE9622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the slips option via which can upload slips once a month</a:t>
            </a:r>
          </a:p>
        </p:txBody>
      </p:sp>
      <p:pic>
        <p:nvPicPr>
          <p:cNvPr id="5" name="Picture 4" descr="The image displays a digital interface for managing wage slips, including a reminder for voucher arrivals, a section for uploading photos, and a log for work days.&#10;&#10;AI-generated content may be incorrect.">
            <a:extLst>
              <a:ext uri="{FF2B5EF4-FFF2-40B4-BE49-F238E27FC236}">
                <a16:creationId xmlns:a16="http://schemas.microsoft.com/office/drawing/2014/main" id="{B70EE7DD-09E8-3E40-DCA4-7D2D5AAF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608" y="1049139"/>
            <a:ext cx="3470344" cy="567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1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339D-FA10-B7F4-4BFA-7A78F5A5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7745-E51E-9B55-5207-F750FC6B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what the ledger screen looks like as you keep updating daily</a:t>
            </a:r>
          </a:p>
        </p:txBody>
      </p:sp>
      <p:pic>
        <p:nvPicPr>
          <p:cNvPr id="4" name="Picture 3" descr="The image displays a daily ledger for April 30th, listing two transactions: one for 1 unit at ￢ﾂﾹ51 and another for 3 units at ￢ﾂﾹ153.&#10;&#10;AI-generated content may be incorrect.">
            <a:extLst>
              <a:ext uri="{FF2B5EF4-FFF2-40B4-BE49-F238E27FC236}">
                <a16:creationId xmlns:a16="http://schemas.microsoft.com/office/drawing/2014/main" id="{C8F221CB-C684-F051-DDBB-F9CFB97CD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14" y="1027906"/>
            <a:ext cx="3309775" cy="568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8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4E41-1C24-E19C-D523-1F0B9E0E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9F89-54D1-BE17-4169-A0518E09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end algo to convert vehicles filled into daily wages – we can modify as needed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C978F-F661-6376-6552-EC7021BB90BD}"/>
              </a:ext>
            </a:extLst>
          </p:cNvPr>
          <p:cNvSpPr txBox="1"/>
          <p:nvPr/>
        </p:nvSpPr>
        <p:spPr>
          <a:xfrm>
            <a:off x="838200" y="1932189"/>
            <a:ext cx="9637776" cy="435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Wage Calculation Algorithm</a:t>
            </a:r>
          </a:p>
          <a:p>
            <a:pPr algn="l">
              <a:lnSpc>
                <a:spcPts val="1575"/>
              </a:lnSpc>
              <a:spcAft>
                <a:spcPts val="1350"/>
              </a:spcAft>
              <a:buNone/>
            </a:pP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The algorithm I implemented follows the logic outlined below:</a:t>
            </a:r>
          </a:p>
          <a:p>
            <a:pPr algn="l">
              <a:lnSpc>
                <a:spcPts val="1575"/>
              </a:lnSpc>
              <a:spcAft>
                <a:spcPts val="5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Total Group (Toli) Earnings:</a:t>
            </a:r>
            <a:br>
              <a:rPr lang="en-US" b="0" i="0" dirty="0">
                <a:solidFill>
                  <a:srgbClr val="2B2D31"/>
                </a:solidFill>
                <a:effectLst/>
                <a:latin typeface="Inter"/>
              </a:rPr>
            </a:b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75"/>
              </a:lnSpc>
              <a:spcAft>
                <a:spcPts val="52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Rate per Ton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 is determined by vehicle type (e.g., ₹366.01 for Tractors, ₹408.41 for Trucks) based on the 2024 rates provided in SOPPECOM document.</a:t>
            </a:r>
          </a:p>
          <a:p>
            <a:pPr marL="742950" lvl="1" indent="-285750" algn="l">
              <a:lnSpc>
                <a:spcPts val="1575"/>
              </a:lnSpc>
              <a:spcAft>
                <a:spcPts val="52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Tons per Vehicle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 is what the user specifies during the setup (e.g., 3.5 tons for a tractor).</a:t>
            </a:r>
          </a:p>
          <a:p>
            <a:pPr lvl="1" algn="l">
              <a:lnSpc>
                <a:spcPts val="1575"/>
              </a:lnSpc>
              <a:spcAft>
                <a:spcPts val="525"/>
              </a:spcAft>
            </a:pP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algn="l">
              <a:lnSpc>
                <a:spcPts val="1575"/>
              </a:lnSpc>
              <a:spcAft>
                <a:spcPts val="5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Individual Household (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Koyta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) Earnings:</a:t>
            </a:r>
            <a:br>
              <a:rPr lang="en-US" b="0" i="0" dirty="0">
                <a:solidFill>
                  <a:srgbClr val="2B2D31"/>
                </a:solidFill>
                <a:effectLst/>
                <a:latin typeface="Inter"/>
              </a:rPr>
            </a:b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75"/>
              </a:lnSpc>
              <a:spcAft>
                <a:spcPts val="52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We use a weighted count for the group size: 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Full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Koytas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 count as 1.0, and 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Half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Koytas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 count as 0.5.</a:t>
            </a:r>
          </a:p>
          <a:p>
            <a:pPr marL="742950" lvl="1" indent="-285750" algn="l">
              <a:lnSpc>
                <a:spcPts val="1575"/>
              </a:lnSpc>
              <a:spcAft>
                <a:spcPts val="525"/>
              </a:spcAft>
              <a:buFont typeface="+mj-lt"/>
              <a:buAutoNum type="arabicPeriod"/>
            </a:pP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Example: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 If a Toli has 8 Full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Koytas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and 4 Half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Koytas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, the total earnings are divided by 10.0.</a:t>
            </a:r>
          </a:p>
          <a:p>
            <a:pPr lvl="1" algn="l">
              <a:lnSpc>
                <a:spcPts val="1575"/>
              </a:lnSpc>
              <a:spcAft>
                <a:spcPts val="525"/>
              </a:spcAft>
            </a:pP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algn="l">
              <a:lnSpc>
                <a:spcPts val="1575"/>
              </a:lnSpc>
              <a:spcAft>
                <a:spcPts val="5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Remaining Debt:</a:t>
            </a:r>
            <a:br>
              <a:rPr lang="en-US" b="0" i="0" dirty="0">
                <a:solidFill>
                  <a:srgbClr val="2B2D31"/>
                </a:solidFill>
                <a:effectLst/>
                <a:latin typeface="Inter"/>
              </a:rPr>
            </a:b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This allows the worker to see instantly how much of their debt is cleared after every single vehicle they load</a:t>
            </a:r>
          </a:p>
        </p:txBody>
      </p:sp>
    </p:spTree>
    <p:extLst>
      <p:ext uri="{BB962C8B-B14F-4D97-AF65-F5344CB8AC3E}">
        <p14:creationId xmlns:p14="http://schemas.microsoft.com/office/powerpoint/2010/main" val="98220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5E1C-871B-ECAB-4FA1-022ABAD27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B997-87C6-C8B5-7183-656FD19D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to be added – not in mockup yet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217A7-8E87-9482-8B31-A4C1E220285B}"/>
              </a:ext>
            </a:extLst>
          </p:cNvPr>
          <p:cNvSpPr txBox="1"/>
          <p:nvPr/>
        </p:nvSpPr>
        <p:spPr>
          <a:xfrm>
            <a:off x="838200" y="1932189"/>
            <a:ext cx="9637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en-US" dirty="0">
                <a:solidFill>
                  <a:srgbClr val="2B2D31"/>
                </a:solidFill>
                <a:latin typeface="Inter"/>
              </a:rPr>
              <a:t>Allow workers to also provide details on how many </a:t>
            </a:r>
            <a:r>
              <a:rPr lang="en-US" dirty="0" err="1">
                <a:solidFill>
                  <a:srgbClr val="2B2D31"/>
                </a:solidFill>
                <a:latin typeface="Inter"/>
              </a:rPr>
              <a:t>tolis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 (half and full) worked each day</a:t>
            </a:r>
          </a:p>
          <a:p>
            <a:pPr marL="342900" indent="-342900" algn="l">
              <a:buAutoNum type="arabicPeriod"/>
            </a:pP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Allow workers to download the final ledge</a:t>
            </a:r>
            <a:r>
              <a:rPr lang="en-US" dirty="0">
                <a:solidFill>
                  <a:srgbClr val="2B2D31"/>
                </a:solidFill>
                <a:latin typeface="Inter"/>
              </a:rPr>
              <a:t>r as a pdf that they can save on their phone</a:t>
            </a: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92511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272</Words>
  <Application>Microsoft Office PowerPoint</Application>
  <PresentationFormat>Widescreen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Inter</vt:lpstr>
      <vt:lpstr>Office Theme</vt:lpstr>
      <vt:lpstr>Intro screen</vt:lpstr>
      <vt:lpstr>Onboarding screen</vt:lpstr>
      <vt:lpstr>Onboarding screen</vt:lpstr>
      <vt:lpstr>Toli details screen</vt:lpstr>
      <vt:lpstr>Toli details screen</vt:lpstr>
      <vt:lpstr>Vehicle details screen</vt:lpstr>
      <vt:lpstr>Transition screen</vt:lpstr>
      <vt:lpstr>Tracker dashboard</vt:lpstr>
      <vt:lpstr>Add daily update by clicking “+” on dashboard</vt:lpstr>
      <vt:lpstr>Dashboard updated “automatically”</vt:lpstr>
      <vt:lpstr>Note the slips option via which can upload slips once a month</vt:lpstr>
      <vt:lpstr>This is what the ledger screen looks like as you keep updating daily</vt:lpstr>
      <vt:lpstr>Back end algo to convert vehicles filled into daily wages – we can modify as needed</vt:lpstr>
      <vt:lpstr>Features to be added – not in mockup yet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Aditi Bhowmick</dc:creator>
  <cp:lastModifiedBy>Aditi Bhowmick</cp:lastModifiedBy>
  <cp:revision>1</cp:revision>
  <dcterms:created xsi:type="dcterms:W3CDTF">2026-05-01T16:06:30Z</dcterms:created>
  <dcterms:modified xsi:type="dcterms:W3CDTF">2026-05-01T16:22:10Z</dcterms:modified>
</cp:coreProperties>
</file>